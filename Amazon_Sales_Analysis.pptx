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E68200">
              <a:alpha val="18000"/>
            </a:srgbClr>
          </a:solidFill>
          <a:ln w="12700">
            <a:solidFill>
              <a:srgbClr val="E682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457200"/>
            <a:ext cx="3657600" cy="3657600"/>
          </a:xfrm>
          <a:prstGeom prst="ellipse">
            <a:avLst/>
          </a:prstGeom>
          <a:solidFill>
            <a:srgbClr val="FF9900">
              <a:alpha val="12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548640" y="25420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200" dirty="0"/>
          </a:p>
        </p:txBody>
      </p:sp>
      <p:sp>
        <p:nvSpPr>
          <p:cNvPr id="10" name="Shape 7"/>
          <p:cNvSpPr/>
          <p:nvPr/>
        </p:nvSpPr>
        <p:spPr>
          <a:xfrm>
            <a:off x="548640" y="3401568"/>
            <a:ext cx="3200400" cy="36576"/>
          </a:xfrm>
          <a:prstGeom prst="rect">
            <a:avLst/>
          </a:prstGeom>
          <a:solidFill>
            <a:srgbClr val="8BA0B8"/>
          </a:solidFill>
          <a:ln w="12700">
            <a:solidFill>
              <a:srgbClr val="8BA0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Exploration &amp; Insights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4069080"/>
            <a:ext cx="2286000" cy="365760"/>
          </a:xfrm>
          <a:prstGeom prst="rect">
            <a:avLst>
              <a:gd name="adj" fmla="val 12500"/>
            </a:avLst>
          </a:prstGeom>
          <a:solidFill>
            <a:srgbClr val="243447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Manpreet Kaur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0" y="3840480"/>
            <a:ext cx="1188720" cy="685800"/>
          </a:xfrm>
          <a:prstGeom prst="rect">
            <a:avLst/>
          </a:prstGeom>
          <a:solidFill>
            <a:srgbClr val="24344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38587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029200" y="4206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0" y="3840480"/>
            <a:ext cx="1188720" cy="685800"/>
          </a:xfrm>
          <a:prstGeom prst="rect">
            <a:avLst/>
          </a:prstGeom>
          <a:solidFill>
            <a:srgbClr val="24344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38587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00800" y="4206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Concepts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72400" y="3840480"/>
            <a:ext cx="1188720" cy="685800"/>
          </a:xfrm>
          <a:prstGeom prst="rect">
            <a:avLst/>
          </a:prstGeom>
          <a:solidFill>
            <a:srgbClr val="24344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0" y="38587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772400" y="4206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73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731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products with a discounted price below ₹500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82880" y="804672"/>
            <a:ext cx="3931920" cy="2194560"/>
          </a:xfrm>
          <a:prstGeom prst="rect">
            <a:avLst/>
          </a:prstGeom>
          <a:solidFill>
            <a:srgbClr val="24344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941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7472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WHERE clause — a row-level filter to select only records matching a condition.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47472" y="1883664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the dataset to return products where discounted_price is strictly less than 500.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1168" y="3127248"/>
            <a:ext cx="868680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168" y="31272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161288" y="3127248"/>
            <a:ext cx="466344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61288" y="3127248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51960" y="804672"/>
            <a:ext cx="470916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61688" y="877824"/>
            <a:ext cx="91440" cy="9144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26280" y="877824"/>
            <a:ext cx="91440" cy="914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90872" y="877824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43400" y="1033272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mytable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discounted_price &lt; 500;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73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731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products with a discount percentage of 50% or more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82880" y="804672"/>
            <a:ext cx="3931920" cy="2194560"/>
          </a:xfrm>
          <a:prstGeom prst="rect">
            <a:avLst/>
          </a:prstGeom>
          <a:solidFill>
            <a:srgbClr val="24344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941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7472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WHERE clause acts as a row-level filter on the discount_percentage column.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47472" y="1883664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discount_percentage column to find values &gt;= 50.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only products with heavy discounts.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1168" y="3127248"/>
            <a:ext cx="868680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168" y="31272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161288" y="3127248"/>
            <a:ext cx="566928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61288" y="31272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51960" y="804672"/>
            <a:ext cx="470916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61688" y="877824"/>
            <a:ext cx="91440" cy="9144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26280" y="877824"/>
            <a:ext cx="91440" cy="914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90872" y="877824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43400" y="1033272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mytable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discount_percentage &gt;= 50;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73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731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all products where the name contains "Cable"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82880" y="804672"/>
            <a:ext cx="3931920" cy="2194560"/>
          </a:xfrm>
          <a:prstGeom prst="rect">
            <a:avLst/>
          </a:prstGeom>
          <a:solidFill>
            <a:srgbClr val="24344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941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7472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LIKE operator for pattern matching against the product_name column.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47472" y="1883664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is a wildcard matching zero or more characters.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%Cable% checks if "Cable" appears anywhere in the name.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1168" y="3127248"/>
            <a:ext cx="768096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168" y="312724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060704" y="3127248"/>
            <a:ext cx="1371600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3127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%wildcard%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51960" y="804672"/>
            <a:ext cx="470916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61688" y="877824"/>
            <a:ext cx="91440" cy="9144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26280" y="877824"/>
            <a:ext cx="91440" cy="914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90872" y="877824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43400" y="1033272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mytable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product_name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LIKE '%Cable%';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73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731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avg actual price vs avg discounted price per product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82880" y="804672"/>
            <a:ext cx="3931920" cy="2194560"/>
          </a:xfrm>
          <a:prstGeom prst="rect">
            <a:avLst/>
          </a:prstGeom>
          <a:solidFill>
            <a:srgbClr val="24344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941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7472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AVG() is an aggregation function. Subtract avg discounted from avg actual price.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47472" y="1883664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product_name to get per-product differences.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the result as sales_price for readability.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1168" y="3127248"/>
            <a:ext cx="868680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168" y="31272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161288" y="3127248"/>
            <a:ext cx="1170432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61288" y="31272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23160" y="3127248"/>
            <a:ext cx="566928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23160" y="31272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251960" y="804672"/>
            <a:ext cx="470916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61688" y="877824"/>
            <a:ext cx="91440" cy="9144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26280" y="877824"/>
            <a:ext cx="91440" cy="914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90872" y="877824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43400" y="1033272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product_name,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(AVG(actual_price)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AVG(discounted_price))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AS sales_price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mytable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product_name;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73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731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reviews that mention "fast charging"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82880" y="804672"/>
            <a:ext cx="3931920" cy="2194560"/>
          </a:xfrm>
          <a:prstGeom prst="rect">
            <a:avLst/>
          </a:prstGeom>
          <a:solidFill>
            <a:srgbClr val="24344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941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7472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LIKE operator searches for substring matches within review_content.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47472" y="1883664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'%fast charging%' matches anywhere in the review text.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sensitivity depends on the DB collation settings.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1168" y="3127248"/>
            <a:ext cx="768096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168" y="312724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060704" y="3127248"/>
            <a:ext cx="1472184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3127248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%substring%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51960" y="804672"/>
            <a:ext cx="470916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61688" y="877824"/>
            <a:ext cx="91440" cy="9144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26280" y="877824"/>
            <a:ext cx="91440" cy="914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90872" y="877824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43400" y="1033272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mytable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review_content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LIKE '%fast charging%';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73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731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products with discount % between 20% and 40%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82880" y="804672"/>
            <a:ext cx="3931920" cy="2194560"/>
          </a:xfrm>
          <a:prstGeom prst="rect">
            <a:avLst/>
          </a:prstGeom>
          <a:solidFill>
            <a:srgbClr val="24344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941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7472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BETWEEN ... AND within a WHERE clause to define an inclusive range.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47472" y="1883664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is inclusive on both ends (20 and 40).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to: WHERE x &gt;= 20 AND x &lt;= 40.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1168" y="3127248"/>
            <a:ext cx="868680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168" y="31272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161288" y="3127248"/>
            <a:ext cx="1069848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61288" y="3127248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322576" y="3127248"/>
            <a:ext cx="667512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22576" y="3127248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251960" y="804672"/>
            <a:ext cx="470916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61688" y="877824"/>
            <a:ext cx="91440" cy="9144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26280" y="877824"/>
            <a:ext cx="91440" cy="914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90872" y="877824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43400" y="1033272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mytable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discount_percentage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BETWEEN 20 AND 40;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73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731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actual price &gt; ₹1,000 and rating ≥ 4 stars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82880" y="804672"/>
            <a:ext cx="3931920" cy="2194560"/>
          </a:xfrm>
          <a:prstGeom prst="rect">
            <a:avLst/>
          </a:prstGeom>
          <a:solidFill>
            <a:srgbClr val="24344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941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7472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conditions joined with AND — both must be satisfied simultaneously.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47472" y="1883664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actual_price &gt; 1000 filters premium products.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&gt;= 4 ensures only high-quality results are returned.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1168" y="3127248"/>
            <a:ext cx="868680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168" y="31272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161288" y="3127248"/>
            <a:ext cx="667512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61288" y="3127248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920240" y="3127248"/>
            <a:ext cx="466344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920240" y="3127248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478024" y="3127248"/>
            <a:ext cx="566928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78024" y="31272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51960" y="804672"/>
            <a:ext cx="470916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61688" y="877824"/>
            <a:ext cx="91440" cy="9144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26280" y="877824"/>
            <a:ext cx="91440" cy="914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90872" y="877824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43400" y="1033272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mytable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actual_price &gt; 1000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rating &gt;= 4;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73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731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products where the discounted price ends with 9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82880" y="804672"/>
            <a:ext cx="3931920" cy="2194560"/>
          </a:xfrm>
          <a:prstGeom prst="rect">
            <a:avLst/>
          </a:prstGeom>
          <a:solidFill>
            <a:srgbClr val="24344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941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7472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LIKE with the %9 pattern to match charm pricing ending in 9.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47472" y="1883664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represents any characters before the final digit.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prices like 199, 499, 999, etc.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1168" y="3127248"/>
            <a:ext cx="768096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168" y="312724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060704" y="3127248"/>
            <a:ext cx="1371600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3127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wildcard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51960" y="804672"/>
            <a:ext cx="470916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61688" y="877824"/>
            <a:ext cx="91440" cy="9144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26280" y="877824"/>
            <a:ext cx="91440" cy="914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90872" y="877824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43400" y="1033272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mytable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discounted_price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LIKE '%9';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73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731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with "worst", "waste", "poor", or "not good"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82880" y="804672"/>
            <a:ext cx="3931920" cy="2194560"/>
          </a:xfrm>
          <a:prstGeom prst="rect">
            <a:avLst/>
          </a:prstGeom>
          <a:solidFill>
            <a:srgbClr val="24344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941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7472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LIKE with OR to match any of the negative sentiment keywords.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47472" y="1883664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LIKE condition checks for one negative keyword.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returns rows matching at least one condition.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1168" y="3127248"/>
            <a:ext cx="768096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168" y="312724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060704" y="3127248"/>
            <a:ext cx="566928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31272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719072" y="3127248"/>
            <a:ext cx="1271016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19072" y="312724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%pattern%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251960" y="804672"/>
            <a:ext cx="470916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61688" y="877824"/>
            <a:ext cx="91440" cy="9144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26280" y="877824"/>
            <a:ext cx="91440" cy="914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90872" y="877824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43400" y="1033272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mytable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review_content LIKE '%worst%'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 review_content LIKE '%waste%'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 review_content LIKE '%poor%'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 review_content LIKE '%not good%';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73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731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products where category includes "Accessories"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82880" y="804672"/>
            <a:ext cx="3931920" cy="2194560"/>
          </a:xfrm>
          <a:prstGeom prst="rect">
            <a:avLst/>
          </a:prstGeom>
          <a:solidFill>
            <a:srgbClr val="24344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941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7472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LIKE '%Accessories%' to match any category that contains the word.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47472" y="1883664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multi-level categories like Electronics|Accessories.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on both sides ensures partial string matches.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1168" y="3127248"/>
            <a:ext cx="868680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168" y="31272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161288" y="3127248"/>
            <a:ext cx="768096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61288" y="312724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020824" y="3127248"/>
            <a:ext cx="1673352" cy="256032"/>
          </a:xfrm>
          <a:prstGeom prst="rect">
            <a:avLst/>
          </a:prstGeom>
          <a:solidFill>
            <a:srgbClr val="1E344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20824" y="312724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%Accessories%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251960" y="804672"/>
            <a:ext cx="470916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61688" y="877824"/>
            <a:ext cx="91440" cy="9144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26280" y="877824"/>
            <a:ext cx="91440" cy="914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90872" y="877824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43400" y="1033272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mytable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category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LIKE '%Accessories%';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F9900">
              <a:alpha val="1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00A8CC">
              <a:alpha val="10000"/>
            </a:srgbClr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37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Analysis — SQL Query Exploration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1828800" cy="731520"/>
          </a:xfrm>
          <a:prstGeom prst="rect">
            <a:avLst/>
          </a:prstGeom>
          <a:solidFill>
            <a:srgbClr val="24344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Filtering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60320" y="3429000"/>
            <a:ext cx="1828800" cy="731520"/>
          </a:xfrm>
          <a:prstGeom prst="rect">
            <a:avLst/>
          </a:prstGeom>
          <a:solidFill>
            <a:srgbClr val="24344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0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56032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0" y="3429000"/>
            <a:ext cx="1828800" cy="731520"/>
          </a:xfrm>
          <a:prstGeom prst="rect">
            <a:avLst/>
          </a:prstGeom>
          <a:solidFill>
            <a:srgbClr val="24344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0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0" y="3429000"/>
            <a:ext cx="1828800" cy="731520"/>
          </a:xfrm>
          <a:prstGeom prst="rect">
            <a:avLst/>
          </a:prstGeom>
          <a:solidFill>
            <a:srgbClr val="243447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8368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Filter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Manpreet Kaur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Sales Analysis</dc:title>
  <dc:subject>PptxGenJS Presentation</dc:subject>
  <dc:creator>PptxGenJS</dc:creator>
  <cp:lastModifiedBy>PptxGenJS</cp:lastModifiedBy>
  <cp:revision>1</cp:revision>
  <dcterms:created xsi:type="dcterms:W3CDTF">2026-04-01T12:25:41Z</dcterms:created>
  <dcterms:modified xsi:type="dcterms:W3CDTF">2026-04-01T12:25:41Z</dcterms:modified>
</cp:coreProperties>
</file>